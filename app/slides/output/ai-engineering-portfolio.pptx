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001D3D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 Portfolio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548640" y="27432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LLM with RAG, Fine-tuning &amp; Tool Calling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2743200" cy="36576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3050 4GB  |  MSI Katana GF66  |  Windows 11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4114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0" y="365760"/>
            <a:ext cx="1554480" cy="457200"/>
          </a:xfrm>
          <a:prstGeom prst="rect">
            <a:avLst>
              <a:gd name="adj" fmla="val 12000"/>
            </a:avLst>
          </a:prstGeom>
          <a:solidFill>
            <a:srgbClr val="FFC300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3657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CLOUD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371600" cy="36576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188720" y="1444752"/>
            <a:ext cx="365760" cy="27432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8" name="Text 6"/>
          <p:cNvSpPr/>
          <p:nvPr/>
        </p:nvSpPr>
        <p:spPr>
          <a:xfrm>
            <a:off x="1691640" y="1188720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Architecture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15179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3050, Ollama, Qdrant, Docker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1901952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1188720" y="2157984"/>
            <a:ext cx="365760" cy="27432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12" name="Text 10"/>
          <p:cNvSpPr/>
          <p:nvPr/>
        </p:nvSpPr>
        <p:spPr>
          <a:xfrm>
            <a:off x="1691640" y="1901952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2311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DB, sentence-transformers, +83% improvement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2615184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188720" y="2871216"/>
            <a:ext cx="365760" cy="27432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2615184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29443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Unsloth LoRA, 230 train / 15 test, GGUF Q4_K_M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328416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1188720" y="3584448"/>
            <a:ext cx="365760" cy="27432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20" name="Text 18"/>
          <p:cNvSpPr/>
          <p:nvPr/>
        </p:nvSpPr>
        <p:spPr>
          <a:xfrm>
            <a:off x="1691640" y="3328416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Calling Agent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3657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tools, agent loop, 4/4 E2E tasks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04164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1188720" y="4297680"/>
            <a:ext cx="365760" cy="27432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24" name="Text 22"/>
          <p:cNvSpPr/>
          <p:nvPr/>
        </p:nvSpPr>
        <p:spPr>
          <a:xfrm>
            <a:off x="1691640" y="4041648"/>
            <a:ext cx="6400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&amp; Capacity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691640" y="43708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test, multi-tool chaining, max concurrency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C300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Architecture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2286000" cy="4572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RTX 3050 4GB  |  16GB RAM  |  Windows 11  |  Docker Desktop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stack - no cloud APIs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840480" cy="3840480"/>
          </a:xfrm>
          <a:prstGeom prst="rect">
            <a:avLst>
              <a:gd name="adj" fmla="val 2381"/>
            </a:avLst>
          </a:prstGeom>
          <a:solidFill>
            <a:srgbClr val="001D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Laptop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3736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MSI Katana GF66 11UC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93852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737360" y="193852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RTX 3050 - 4GB VRAM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241401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737360" y="2414016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16GB DDR4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88950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11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3649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CUDA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737360" y="336499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12.8 / Driver 572.61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914400"/>
            <a:ext cx="2011680" cy="1691640"/>
          </a:xfrm>
          <a:prstGeom prst="rect">
            <a:avLst>
              <a:gd name="adj" fmla="val 4324"/>
            </a:avLst>
          </a:prstGeom>
          <a:solidFill>
            <a:srgbClr val="001D3D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10241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09160" y="1371600"/>
            <a:ext cx="1737360" cy="2743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20" name="Text 18"/>
          <p:cNvSpPr/>
          <p:nvPr/>
        </p:nvSpPr>
        <p:spPr>
          <a:xfrm>
            <a:off x="470916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:11434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09160" y="1920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qwen2.5:3b + qwen2.5-rag-ft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720840" y="914400"/>
            <a:ext cx="2011680" cy="1691640"/>
          </a:xfrm>
          <a:prstGeom prst="rect">
            <a:avLst>
              <a:gd name="adj" fmla="val 4324"/>
            </a:avLst>
          </a:prstGeom>
          <a:solidFill>
            <a:srgbClr val="001D3D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0241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0" y="1371600"/>
            <a:ext cx="1737360" cy="2743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150876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:6333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0" y="1920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chunks, dim 384, cosine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0" y="2834640"/>
            <a:ext cx="2011680" cy="1691640"/>
          </a:xfrm>
          <a:prstGeom prst="rect">
            <a:avLst>
              <a:gd name="adj" fmla="val 4324"/>
            </a:avLst>
          </a:prstGeom>
          <a:solidFill>
            <a:srgbClr val="001D3D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API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09160" y="3291840"/>
            <a:ext cx="1737360" cy="2743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30" name="Text 28"/>
          <p:cNvSpPr/>
          <p:nvPr/>
        </p:nvSpPr>
        <p:spPr>
          <a:xfrm>
            <a:off x="4709160" y="3429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4709160" y="3840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sentence-transformers + FastAPI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720840" y="2834640"/>
            <a:ext cx="2011680" cy="1691640"/>
          </a:xfrm>
          <a:prstGeom prst="rect">
            <a:avLst>
              <a:gd name="adj" fmla="val 4324"/>
            </a:avLst>
          </a:prstGeom>
          <a:solidFill>
            <a:srgbClr val="001D3D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App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858000" y="3291840"/>
            <a:ext cx="1737360" cy="2743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35" name="Text 33"/>
          <p:cNvSpPr/>
          <p:nvPr/>
        </p:nvSpPr>
        <p:spPr>
          <a:xfrm>
            <a:off x="6858000" y="34290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:8090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858000" y="38404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SPA, dark mode, markdown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663440"/>
            <a:ext cx="8229600" cy="18288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services containerized with Docker  |  No cloud APIs  |  Full local inference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C300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2286000" cy="4572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 over AI engineering documentation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Pipeline -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1554480"/>
          </a:xfrm>
          <a:prstGeom prst="rect">
            <a:avLst>
              <a:gd name="adj" fmla="val 4706"/>
            </a:avLst>
          </a:prstGeom>
          <a:solidFill>
            <a:srgbClr val="001D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6012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17373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Chunks indexed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02996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engineering docs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914400"/>
            <a:ext cx="1965960" cy="1554480"/>
          </a:xfrm>
          <a:prstGeom prst="rect">
            <a:avLst>
              <a:gd name="adj" fmla="val 4706"/>
            </a:avLst>
          </a:prstGeom>
          <a:solidFill>
            <a:srgbClr val="001D3D"/>
          </a:solidFill>
          <a:ln/>
        </p:spPr>
      </p:sp>
      <p:sp>
        <p:nvSpPr>
          <p:cNvPr id="10" name="Text 8"/>
          <p:cNvSpPr/>
          <p:nvPr/>
        </p:nvSpPr>
        <p:spPr>
          <a:xfrm>
            <a:off x="2606040" y="96012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384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697480" y="17373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dim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202996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all-MiniLM-L6-v2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914400"/>
            <a:ext cx="1965960" cy="1554480"/>
          </a:xfrm>
          <a:prstGeom prst="rect">
            <a:avLst>
              <a:gd name="adj" fmla="val 4706"/>
            </a:avLst>
          </a:prstGeom>
          <a:solidFill>
            <a:srgbClr val="001D3D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96012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846320" y="17373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relevance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02996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no-RAG baseline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914400"/>
            <a:ext cx="1965960" cy="1554480"/>
          </a:xfrm>
          <a:prstGeom prst="rect">
            <a:avLst>
              <a:gd name="adj" fmla="val 4706"/>
            </a:avLst>
          </a:prstGeom>
          <a:solidFill>
            <a:srgbClr val="001D3D"/>
          </a:solidFill>
          <a:ln/>
        </p:spPr>
      </p:sp>
      <p:sp>
        <p:nvSpPr>
          <p:cNvPr id="18" name="Text 16"/>
          <p:cNvSpPr/>
          <p:nvPr/>
        </p:nvSpPr>
        <p:spPr>
          <a:xfrm>
            <a:off x="6903720" y="96012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995160" y="17373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tok/s throughput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95160" y="2029968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RTX 3050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2651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691640" y="30175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87452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26" name="Text 24"/>
          <p:cNvSpPr/>
          <p:nvPr/>
        </p:nvSpPr>
        <p:spPr>
          <a:xfrm>
            <a:off x="187452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08960" y="30175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29184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29" name="Text 27"/>
          <p:cNvSpPr/>
          <p:nvPr/>
        </p:nvSpPr>
        <p:spPr>
          <a:xfrm>
            <a:off x="329184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30175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70916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43600" y="30175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12648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60920" y="301752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543800" y="3017520"/>
            <a:ext cx="1234440" cy="502920"/>
          </a:xfrm>
          <a:prstGeom prst="rect">
            <a:avLst>
              <a:gd name="adj" fmla="val 10909"/>
            </a:avLst>
          </a:prstGeom>
          <a:solidFill>
            <a:srgbClr val="001D3D"/>
          </a:solidFill>
          <a:ln/>
        </p:spPr>
      </p:sp>
      <p:sp>
        <p:nvSpPr>
          <p:cNvPr id="38" name="Text 36"/>
          <p:cNvSpPr/>
          <p:nvPr/>
        </p:nvSpPr>
        <p:spPr>
          <a:xfrm>
            <a:off x="7543800" y="3017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" y="3749040"/>
            <a:ext cx="8229600" cy="1097280"/>
          </a:xfrm>
          <a:prstGeom prst="rect">
            <a:avLst>
              <a:gd name="adj" fmla="val 6667"/>
            </a:avLst>
          </a:prstGeom>
          <a:solidFill>
            <a:srgbClr val="001D3D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Golden Q&amp;A Dataset + LLM-as-Judge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4160520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Curated question-answer pairs from real technical documentation. LLM judges answer quality on a 1-5 scale. RAG pipeline evaluated against baseline (no retrieval) using the same judge model.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C300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2286000" cy="4572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Unsloth LoRA on tool-calling examples  |  230 train / 15 held-out 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Results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828800" cy="548640"/>
          </a:xfrm>
          <a:prstGeom prst="rect">
            <a:avLst>
              <a:gd name="adj" fmla="val 10000"/>
            </a:avLst>
          </a:prstGeom>
          <a:solidFill>
            <a:srgbClr val="001D3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8869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230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161288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examples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27048"/>
            <a:ext cx="1828800" cy="548640"/>
          </a:xfrm>
          <a:prstGeom prst="rect">
            <a:avLst>
              <a:gd name="adj" fmla="val 10000"/>
            </a:avLst>
          </a:prstGeom>
          <a:solidFill>
            <a:srgbClr val="001D3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4533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181965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test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185416"/>
            <a:ext cx="1828800" cy="548640"/>
          </a:xfrm>
          <a:prstGeom prst="rect">
            <a:avLst>
              <a:gd name="adj" fmla="val 10000"/>
            </a:avLst>
          </a:prstGeom>
          <a:solidFill>
            <a:srgbClr val="001D3D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0370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1.9GB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24780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GGUF Q4_K_M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843784"/>
            <a:ext cx="1828800" cy="548640"/>
          </a:xfrm>
          <a:prstGeom prst="rect">
            <a:avLst>
              <a:gd name="adj" fmla="val 10000"/>
            </a:avLst>
          </a:prstGeom>
          <a:solidFill>
            <a:srgbClr val="001D3D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6207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28min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3136392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60320" y="868680"/>
            <a:ext cx="6126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 Evaluation - Base vs Fine-tuned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560320" y="1280160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51760" y="12801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1280160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12801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(qwen2.5:3b)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280160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28016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1755648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1755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 rate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80560" y="1755648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0" y="1755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0" y="1755648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75564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560320" y="2231136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2231136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iterations/task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80560" y="2231136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2231136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0" y="2231136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2231136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60320" y="2706624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51760" y="2706624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length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480560" y="2706624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0" y="2706624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315 chars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400800" y="2706624"/>
            <a:ext cx="1920240" cy="475488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92240" y="2706624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279 chars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60320" y="3182112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51760" y="3182112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answer relevance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480560" y="3182112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0" y="3182112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400800" y="3182112"/>
            <a:ext cx="1920240" cy="475488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3182112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+83%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60320" y="3749040"/>
            <a:ext cx="6126480" cy="1051560"/>
          </a:xfrm>
          <a:prstGeom prst="rect">
            <a:avLst>
              <a:gd name="adj" fmla="val 6957"/>
            </a:avLst>
          </a:prstGeom>
          <a:solidFill>
            <a:srgbClr val="001D3D"/>
          </a:solidFill>
          <a:ln/>
        </p:spPr>
      </p:sp>
      <p:sp>
        <p:nvSpPr>
          <p:cNvPr id="49" name="Text 47"/>
          <p:cNvSpPr/>
          <p:nvPr/>
        </p:nvSpPr>
        <p:spPr>
          <a:xfrm>
            <a:off x="2743200" y="3840480"/>
            <a:ext cx="5760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Finding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743200" y="416052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qwen2.5:3b base already knows the tool-calling format. Fine-tuning did not add new capability - it reduced response length by 11% and iterations by 9%. Zero regression in tool call rate.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2743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C300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Calling Agent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2286000" cy="4572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tools with real backends  |  Native Ollama tool calling  |  No LangChain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Tools with Real Backends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9784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search_docs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130759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3075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API :8000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search in knowledge base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86868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9784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list_models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9000" y="130759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3075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 :11434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290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available LLM models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86868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97840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get_gpu_stats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130759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3075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nvidia-smi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2636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VRAM, utilization, temperature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28600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3957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get_collection_info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272491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27249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:6333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metadata &amp; stats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28600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23957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plot_metric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29000" y="272491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28" name="Text 26"/>
          <p:cNvSpPr/>
          <p:nvPr/>
        </p:nvSpPr>
        <p:spPr>
          <a:xfrm>
            <a:off x="3429000" y="27249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29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PNG charts from CSV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2651760" cy="1234440"/>
          </a:xfrm>
          <a:prstGeom prst="rect">
            <a:avLst>
              <a:gd name="adj" fmla="val 5926"/>
            </a:avLst>
          </a:prstGeom>
          <a:solidFill>
            <a:srgbClr val="001D3D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23957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write_document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63640" y="2724912"/>
            <a:ext cx="1463040" cy="274320"/>
          </a:xfrm>
          <a:prstGeom prst="rect">
            <a:avLst>
              <a:gd name="adj" fmla="val 13333"/>
            </a:avLst>
          </a:prstGeom>
          <a:solidFill>
            <a:srgbClr val="000814"/>
          </a:solidFill>
          <a:ln/>
        </p:spPr>
      </p:sp>
      <p:sp>
        <p:nvSpPr>
          <p:cNvPr id="33" name="Text 31"/>
          <p:cNvSpPr/>
          <p:nvPr/>
        </p:nvSpPr>
        <p:spPr>
          <a:xfrm>
            <a:off x="6263640" y="272491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ReportLab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6364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PDF reports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4114800"/>
            <a:ext cx="1463040" cy="411480"/>
          </a:xfrm>
          <a:prstGeom prst="rect">
            <a:avLst>
              <a:gd name="adj" fmla="val 13333"/>
            </a:avLst>
          </a:prstGeom>
          <a:solidFill>
            <a:srgbClr val="001D3D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920240" y="411480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148840" y="4114800"/>
            <a:ext cx="1463040" cy="411480"/>
          </a:xfrm>
          <a:prstGeom prst="rect">
            <a:avLst>
              <a:gd name="adj" fmla="val 13333"/>
            </a:avLst>
          </a:prstGeom>
          <a:solidFill>
            <a:srgbClr val="001D3D"/>
          </a:solidFill>
          <a:ln/>
        </p:spPr>
      </p:sp>
      <p:sp>
        <p:nvSpPr>
          <p:cNvPr id="40" name="Text 38"/>
          <p:cNvSpPr/>
          <p:nvPr/>
        </p:nvSpPr>
        <p:spPr>
          <a:xfrm>
            <a:off x="214884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tools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11880" y="411480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840480" y="4114800"/>
            <a:ext cx="1463040" cy="411480"/>
          </a:xfrm>
          <a:prstGeom prst="rect">
            <a:avLst>
              <a:gd name="adj" fmla="val 13333"/>
            </a:avLst>
          </a:prstGeom>
          <a:solidFill>
            <a:srgbClr val="001D3D"/>
          </a:solidFill>
          <a:ln/>
        </p:spPr>
      </p:sp>
      <p:sp>
        <p:nvSpPr>
          <p:cNvPr id="43" name="Text 41"/>
          <p:cNvSpPr/>
          <p:nvPr/>
        </p:nvSpPr>
        <p:spPr>
          <a:xfrm>
            <a:off x="384048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303520" y="411480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532120" y="4114800"/>
            <a:ext cx="1463040" cy="411480"/>
          </a:xfrm>
          <a:prstGeom prst="rect">
            <a:avLst>
              <a:gd name="adj" fmla="val 13333"/>
            </a:avLst>
          </a:prstGeom>
          <a:solidFill>
            <a:srgbClr val="001D3D"/>
          </a:solidFill>
          <a:ln/>
        </p:spPr>
      </p:sp>
      <p:sp>
        <p:nvSpPr>
          <p:cNvPr id="46" name="Text 44"/>
          <p:cNvSpPr/>
          <p:nvPr/>
        </p:nvSpPr>
        <p:spPr>
          <a:xfrm>
            <a:off x="553212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95160" y="4114800"/>
            <a:ext cx="228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223760" y="4114800"/>
            <a:ext cx="1463040" cy="411480"/>
          </a:xfrm>
          <a:prstGeom prst="rect">
            <a:avLst>
              <a:gd name="adj" fmla="val 13333"/>
            </a:avLst>
          </a:prstGeom>
          <a:solidFill>
            <a:srgbClr val="001D3D"/>
          </a:solidFill>
          <a:ln/>
        </p:spPr>
      </p:sp>
      <p:sp>
        <p:nvSpPr>
          <p:cNvPr id="49" name="Text 47"/>
          <p:cNvSpPr/>
          <p:nvPr/>
        </p:nvSpPr>
        <p:spPr>
          <a:xfrm>
            <a:off x="7223760" y="4114800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Multi-tool Chaining (Phase 5F)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2560320" cy="1463040"/>
          </a:xfrm>
          <a:prstGeom prst="rect">
            <a:avLst>
              <a:gd name="adj" fmla="val 6250"/>
            </a:avLst>
          </a:prstGeom>
          <a:solidFill>
            <a:srgbClr val="001D3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82296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 |  Chaining rate 100%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822960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64992" y="822960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822960"/>
            <a:ext cx="22860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50992" y="82296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expected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80960" y="822960"/>
            <a:ext cx="21945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54112" y="82296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91840" y="1298448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1298448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+ Qdrant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577840" y="1298448"/>
            <a:ext cx="22860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50992" y="1298448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get_gpu_stats, get_collection_info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80960" y="1298448"/>
            <a:ext cx="21945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54112" y="129844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91840" y="1773936"/>
            <a:ext cx="12801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64992" y="1773936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 + Models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77840" y="1773936"/>
            <a:ext cx="22860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50992" y="1773936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search_docs, list_models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80960" y="1773936"/>
            <a:ext cx="21945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54112" y="17739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1840" y="2249424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64992" y="2249424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+ GPU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2249424"/>
            <a:ext cx="22860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50992" y="224942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list_models, get_gpu_stats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680960" y="2249424"/>
            <a:ext cx="21945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54112" y="224942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2724912"/>
            <a:ext cx="12801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64992" y="2724912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+ GPU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577840" y="2724912"/>
            <a:ext cx="22860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50992" y="2724912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write_document, get_gpu_stats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680960" y="2724912"/>
            <a:ext cx="21945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54112" y="27249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91840" y="3200400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64992" y="3200400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3-tool chain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577840" y="3200400"/>
            <a:ext cx="22860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50992" y="3200400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get_collection_info, list_models, get_gpu_stats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80960" y="3200400"/>
            <a:ext cx="21945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54112" y="320040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749040"/>
            <a:ext cx="8229600" cy="1051560"/>
          </a:xfrm>
          <a:prstGeom prst="rect">
            <a:avLst>
              <a:gd name="adj" fmla="val 6957"/>
            </a:avLst>
          </a:prstGeom>
          <a:solidFill>
            <a:srgbClr val="001D3D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plans and executes multiple tools in parallel - without asking the user.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422452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single iteration, the agent receives a multi-part query and calls 2-3 tools simultaneously. No user re-prompts, no separate turns. This is real agent capability - not scripted sequences.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- Load Test (Phase 5D)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Config: 3 concurrent users, 12 total requests, warmup=2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965960" cy="1005840"/>
          </a:xfrm>
          <a:prstGeom prst="rect">
            <a:avLst>
              <a:gd name="adj" fmla="val 7273"/>
            </a:avLst>
          </a:prstGeom>
          <a:solidFill>
            <a:srgbClr val="001D3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7899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requests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810512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success rate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051560"/>
            <a:ext cx="1965960" cy="1005840"/>
          </a:xfrm>
          <a:prstGeom prst="rect">
            <a:avLst>
              <a:gd name="adj" fmla="val 7273"/>
            </a:avLst>
          </a:prstGeom>
          <a:solidFill>
            <a:srgbClr val="001D3D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07899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697480" y="16002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p50 latency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1810512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clock 36.5s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54880" y="1051560"/>
            <a:ext cx="1965960" cy="1005840"/>
          </a:xfrm>
          <a:prstGeom prst="rect">
            <a:avLst>
              <a:gd name="adj" fmla="val 7273"/>
            </a:avLst>
          </a:prstGeom>
          <a:solidFill>
            <a:srgbClr val="001D3D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07899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846320" y="16002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810512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error rate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03720" y="1051560"/>
            <a:ext cx="1965960" cy="1005840"/>
          </a:xfrm>
          <a:prstGeom prst="rect">
            <a:avLst>
              <a:gd name="adj" fmla="val 7273"/>
            </a:avLst>
          </a:prstGeom>
          <a:solidFill>
            <a:srgbClr val="001D3D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078992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995160" y="160020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per request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1810512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tool call rate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2240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Server-side latency distribution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26060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60120" y="2679192"/>
            <a:ext cx="5029200" cy="256032"/>
          </a:xfrm>
          <a:prstGeom prst="rect">
            <a:avLst>
              <a:gd name="adj" fmla="val 14286"/>
            </a:avLst>
          </a:prstGeom>
          <a:solidFill>
            <a:srgbClr val="001D3D"/>
          </a:solidFill>
          <a:ln/>
        </p:spPr>
      </p:sp>
      <p:sp>
        <p:nvSpPr>
          <p:cNvPr id="25" name="Shape 23"/>
          <p:cNvSpPr/>
          <p:nvPr/>
        </p:nvSpPr>
        <p:spPr>
          <a:xfrm>
            <a:off x="960120" y="2679192"/>
            <a:ext cx="585216" cy="256032"/>
          </a:xfrm>
          <a:prstGeom prst="rect">
            <a:avLst>
              <a:gd name="adj" fmla="val 14286"/>
            </a:avLst>
          </a:prstGeom>
          <a:solidFill>
            <a:srgbClr val="FFC300"/>
          </a:solidFill>
          <a:ln/>
        </p:spPr>
      </p:sp>
      <p:sp>
        <p:nvSpPr>
          <p:cNvPr id="26" name="Text 24"/>
          <p:cNvSpPr/>
          <p:nvPr/>
        </p:nvSpPr>
        <p:spPr>
          <a:xfrm>
            <a:off x="1591056" y="2606040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308152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60120" y="3154680"/>
            <a:ext cx="5029200" cy="256032"/>
          </a:xfrm>
          <a:prstGeom prst="rect">
            <a:avLst>
              <a:gd name="adj" fmla="val 14286"/>
            </a:avLst>
          </a:prstGeom>
          <a:solidFill>
            <a:srgbClr val="001D3D"/>
          </a:solidFill>
          <a:ln/>
        </p:spPr>
      </p:sp>
      <p:sp>
        <p:nvSpPr>
          <p:cNvPr id="29" name="Shape 27"/>
          <p:cNvSpPr/>
          <p:nvPr/>
        </p:nvSpPr>
        <p:spPr>
          <a:xfrm>
            <a:off x="960120" y="3154680"/>
            <a:ext cx="3553015" cy="256032"/>
          </a:xfrm>
          <a:prstGeom prst="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4558856" y="3081528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35570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60120" y="3630168"/>
            <a:ext cx="5029200" cy="256032"/>
          </a:xfrm>
          <a:prstGeom prst="rect">
            <a:avLst>
              <a:gd name="adj" fmla="val 14286"/>
            </a:avLst>
          </a:prstGeom>
          <a:solidFill>
            <a:srgbClr val="001D3D"/>
          </a:solidFill>
          <a:ln/>
        </p:spPr>
      </p:sp>
      <p:sp>
        <p:nvSpPr>
          <p:cNvPr id="33" name="Shape 31"/>
          <p:cNvSpPr/>
          <p:nvPr/>
        </p:nvSpPr>
        <p:spPr>
          <a:xfrm>
            <a:off x="960120" y="3630168"/>
            <a:ext cx="5029200" cy="256032"/>
          </a:xfrm>
          <a:prstGeom prst="rect">
            <a:avLst>
              <a:gd name="adj" fmla="val 14286"/>
            </a:avLst>
          </a:prstGeom>
          <a:solidFill>
            <a:srgbClr val="EF4444"/>
          </a:solidFill>
          <a:ln/>
        </p:spPr>
      </p:sp>
      <p:sp>
        <p:nvSpPr>
          <p:cNvPr id="34" name="Text 32"/>
          <p:cNvSpPr/>
          <p:nvPr/>
        </p:nvSpPr>
        <p:spPr>
          <a:xfrm>
            <a:off x="6035040" y="3557016"/>
            <a:ext cx="731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88.0s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0" y="2606040"/>
            <a:ext cx="2286000" cy="1188720"/>
          </a:xfrm>
          <a:prstGeom prst="rect">
            <a:avLst>
              <a:gd name="adj" fmla="val 6154"/>
            </a:avLst>
          </a:prstGeom>
          <a:solidFill>
            <a:srgbClr val="001D3D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26974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VRAM stable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37960" y="2999232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2354 -&gt; 2337 MB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Delta: -17 MB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 leak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206240"/>
            <a:ext cx="8229600" cy="640080"/>
          </a:xfrm>
          <a:prstGeom prst="rect">
            <a:avLst>
              <a:gd name="adj" fmla="val 11429"/>
            </a:avLst>
          </a:prstGeom>
          <a:solidFill>
            <a:srgbClr val="001D3D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notable case: RAG query triggered 5 tool calls in a single response (multi-step chaining within one iteration).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Test - Max Concurrent Users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Escalating load: 1 -&gt; 2 -&gt; 3 -&gt; 4 concurrent users until failure or p50 &gt; 60s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097280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1097280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01952" y="1097280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 wall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97280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73552" y="1097280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 wall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1097280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19472" y="1097280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97280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50992" y="1097280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572768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" y="1572768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828800" y="1572768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01952" y="1572768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0" y="1572768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73552" y="1572768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19.2s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1572768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1572768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0.07 r/s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77840" y="1572768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0992" y="1572768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048256"/>
            <a:ext cx="146304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2048256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users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828800" y="2048256"/>
            <a:ext cx="13716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01952" y="20482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29.0s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200400" y="2048256"/>
            <a:ext cx="13716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73552" y="2048256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39.0s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46320" y="2048256"/>
            <a:ext cx="146304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2048256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0.06 r/s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577840" y="2048256"/>
            <a:ext cx="12801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50992" y="2048256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2523744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" y="2523744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users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828800" y="2523744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01952" y="2523744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42.6s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200400" y="2523744"/>
            <a:ext cx="137160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73552" y="2523744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45.3s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4846320" y="2523744"/>
            <a:ext cx="146304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19472" y="2523744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0.07 r/s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577840" y="2523744"/>
            <a:ext cx="1280160" cy="457200"/>
          </a:xfrm>
          <a:prstGeom prst="rect">
            <a:avLst/>
          </a:prstGeom>
          <a:solidFill>
            <a:srgbClr val="001D3D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50992" y="2523744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2999232"/>
            <a:ext cx="146304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0352" y="2999232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users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828800" y="2999232"/>
            <a:ext cx="13716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01952" y="2999232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74.3s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200400" y="2999232"/>
            <a:ext cx="137160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73552" y="2999232"/>
            <a:ext cx="1261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88.4s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46320" y="2999232"/>
            <a:ext cx="146304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19472" y="2999232"/>
            <a:ext cx="13533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0.05 r/s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577840" y="2999232"/>
            <a:ext cx="1280160" cy="457200"/>
          </a:xfrm>
          <a:prstGeom prst="rect">
            <a:avLst/>
          </a:prstGeom>
          <a:solidFill>
            <a:srgbClr val="000814"/>
          </a:solidFill>
          <a:ln w="6350">
            <a:solidFill>
              <a:srgbClr val="001D3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50992" y="2999232"/>
            <a:ext cx="1170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457200" y="3840480"/>
            <a:ext cx="2651760" cy="960120"/>
          </a:xfrm>
          <a:prstGeom prst="rect">
            <a:avLst>
              <a:gd name="adj" fmla="val 7619"/>
            </a:avLst>
          </a:prstGeom>
          <a:solidFill>
            <a:srgbClr val="001D3D"/>
          </a:solidFill>
          <a:ln/>
        </p:spPr>
      </p:sp>
      <p:sp>
        <p:nvSpPr>
          <p:cNvPr id="58" name="Text 56"/>
          <p:cNvSpPr/>
          <p:nvPr/>
        </p:nvSpPr>
        <p:spPr>
          <a:xfrm>
            <a:off x="594360" y="3886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59" name="Text 57"/>
          <p:cNvSpPr/>
          <p:nvPr/>
        </p:nvSpPr>
        <p:spPr>
          <a:xfrm>
            <a:off x="594360" y="42976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concurrent users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94360" y="4526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p50 exceeds 60s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291840" y="3840480"/>
            <a:ext cx="2651760" cy="960120"/>
          </a:xfrm>
          <a:prstGeom prst="rect">
            <a:avLst>
              <a:gd name="adj" fmla="val 7619"/>
            </a:avLst>
          </a:prstGeom>
          <a:solidFill>
            <a:srgbClr val="001D3D"/>
          </a:solidFill>
          <a:ln/>
        </p:spPr>
      </p:sp>
      <p:sp>
        <p:nvSpPr>
          <p:cNvPr id="62" name="Text 60"/>
          <p:cNvSpPr/>
          <p:nvPr/>
        </p:nvSpPr>
        <p:spPr>
          <a:xfrm>
            <a:off x="3429000" y="3886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~0.06</a:t>
            </a:r>
            <a:endParaRPr lang="en-US" sz="2600" dirty="0"/>
          </a:p>
        </p:txBody>
      </p:sp>
      <p:sp>
        <p:nvSpPr>
          <p:cNvPr id="63" name="Text 61"/>
          <p:cNvSpPr/>
          <p:nvPr/>
        </p:nvSpPr>
        <p:spPr>
          <a:xfrm>
            <a:off x="3429000" y="42976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throughput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429000" y="4526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req/s at any load level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126480" y="3840480"/>
            <a:ext cx="2651760" cy="960120"/>
          </a:xfrm>
          <a:prstGeom prst="rect">
            <a:avLst>
              <a:gd name="adj" fmla="val 7619"/>
            </a:avLst>
          </a:prstGeom>
          <a:solidFill>
            <a:srgbClr val="001D3D"/>
          </a:solidFill>
          <a:ln/>
        </p:spPr>
      </p:sp>
      <p:sp>
        <p:nvSpPr>
          <p:cNvPr id="66" name="Text 64"/>
          <p:cNvSpPr/>
          <p:nvPr/>
        </p:nvSpPr>
        <p:spPr>
          <a:xfrm>
            <a:off x="6263640" y="3886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</a:t>
            </a:r>
            <a:endParaRPr lang="en-US" sz="2600" dirty="0"/>
          </a:p>
        </p:txBody>
      </p:sp>
      <p:sp>
        <p:nvSpPr>
          <p:cNvPr id="67" name="Text 65"/>
          <p:cNvSpPr/>
          <p:nvPr/>
        </p:nvSpPr>
        <p:spPr>
          <a:xfrm>
            <a:off x="6263640" y="42976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6263640" y="4526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inference on RTX 3050 4GB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503920" y="4663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8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1645920" cy="45720"/>
          </a:xfrm>
          <a:prstGeom prst="rect">
            <a:avLst/>
          </a:prstGeom>
          <a:solidFill>
            <a:srgbClr val="FFC300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24712"/>
            <a:ext cx="457200" cy="457200"/>
          </a:xfrm>
          <a:prstGeom prst="ellipse">
            <a:avLst/>
          </a:prstGeom>
          <a:solidFill>
            <a:srgbClr val="FFC3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24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1097280"/>
            <a:ext cx="7589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local AI stack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399032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Ollama, Qdrant, RAG API, FastAPI agent - all on RTX 3050 4GB. No cloud APIs, no subscriptions.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FFC300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1847088"/>
            <a:ext cx="7589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Rigorous evaluation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test sets, A/B comparisons, load tests. Engineering decisions backed by data, not intuition.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24328"/>
            <a:ext cx="457200" cy="457200"/>
          </a:xfrm>
          <a:prstGeom prst="ellipse">
            <a:avLst/>
          </a:prstGeom>
          <a:solidFill>
            <a:srgbClr val="FFC3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243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7589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reporting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89864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on 230 examples did not add capability - base model already knew tool calling. Documented and validated.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374136"/>
            <a:ext cx="457200" cy="457200"/>
          </a:xfrm>
          <a:prstGeom prst="ellipse">
            <a:avLst/>
          </a:prstGeom>
          <a:solidFill>
            <a:srgbClr val="FFC3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3741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3346704"/>
            <a:ext cx="7589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agent capability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648456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Multi-tool chaining in a single iteration: 3 tools in parallel, no user re-prompts. 5/5 PASS on chaining eval.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123944"/>
            <a:ext cx="457200" cy="457200"/>
          </a:xfrm>
          <a:prstGeom prst="ellipse">
            <a:avLst/>
          </a:prstGeom>
          <a:solidFill>
            <a:srgbClr val="FFC300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123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4096512"/>
            <a:ext cx="7589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6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known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398264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4 concurrent users at acceptable latency. RTX 3050 is the bottleneck - not the software stack.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1D3D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754880"/>
            <a:ext cx="82296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8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http://localhost:8090  |  Architecture: http://localhost:8090/architecture  |  Source: phase-2-rag/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2026-06-05T11:08:10Z</dcterms:created>
  <dcterms:modified xsi:type="dcterms:W3CDTF">2026-06-05T11:08:10Z</dcterms:modified>
</cp:coreProperties>
</file>